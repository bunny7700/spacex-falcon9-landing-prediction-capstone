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1"/>
  </p:notesMasterIdLst>
  <p:handoutMasterIdLst>
    <p:handoutMasterId r:id="rId52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75" d="100"/>
          <a:sy n="75" d="100"/>
        </p:scale>
        <p:origin x="1181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400"/>
              <a:t>Test accuracy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1B4FB0"/>
            </a:solidFill>
          </c:spPr>
          <c:invertIfNegative val="1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SVM</c:v>
                </c:pt>
                <c:pt idx="2">
                  <c:v>Decision Tree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0.83330000000000004</c:v>
                </c:pt>
                <c:pt idx="1">
                  <c:v>0.83330000000000004</c:v>
                </c:pt>
                <c:pt idx="2">
                  <c:v>0.83330000000000004</c:v>
                </c:pt>
                <c:pt idx="3">
                  <c:v>0.83330000000000004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A33-4427-8DEE-E7C1DF8B04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0D7E2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unny7700/SpaceX-Falcon9-Landing-Prediction-Capston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unny7700/SpaceX-Falcon9-Landing-Prediction-Capston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unny7700/SpaceX-Falcon9-Landing-Prediction-Capston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unny7700/SpaceX-Falcon9-Landing-Prediction-Capston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unny7700/SpaceX-Falcon9-Landing-Prediction-Capston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unny7700/SpaceX-Falcon9-Landing-Prediction-Capston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unny7700/SpaceX-Falcon9-Landing-Prediction-Capston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unny7700/SpaceX-Falcon9-Landing-Prediction-Capston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Bunny7700/SpaceX-Falcon9-Landing-Prediction-Capsto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Bunny7700</a:t>
            </a: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September 30, 2026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770011" y="1550000"/>
            <a:ext cx="10500000" cy="440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22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Methodologies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Data from the SpaceX REST API and Wikipedia web scraping, wrangled with Pandas into a binary landing Class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EDA with SQL and Seaborn; interactive Folium map and Plotly Dash dashboard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Classification with Logistic Regression, SVM, Decision Tree and KNN, tuned by GridSearchCV (cv=10)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22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Landing success rose from 0% (2010-2013) to about 90% (2019); GTO is the hardest orbit (~52%)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Heavy payloads launched from CCAFS SLC 40 and KSC LC 39A mostly land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The tuned models reach 83.33% test accuracy (15 of 18 hold-out records); errors are false positives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770011" y="1550000"/>
            <a:ext cx="10500000" cy="44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22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Background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SpaceX advertises Falcon 9 launches at $62M; other providers charge $165M+. Most of the saving comes from reusing the first stage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If we can predict whether the first stage lands, we can estimate the cost of a launch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22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Questions we answer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How do payload, orbit, launch site and flight number affect landing success?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How has the success rate changed over time?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Which classification model predicts the landing outcome best?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550000"/>
            <a:ext cx="10500000" cy="440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22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collection: </a:t>
            </a: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SpaceX REST API and Wikipedia web scraping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Data wrangling: </a:t>
            </a: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filtered to Falcon 9, filled missing payload mass, created binary Class (1 = landed)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EDA: </a:t>
            </a: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SQL queries and Seaborn visualizations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Interactive analytics: </a:t>
            </a: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Folium launch-site map and Plotly Dash dashboard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Predictive analysis: </a:t>
            </a: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StandardScaler, 80/20 split, GridSearchCV (cv=10) for LogReg, SVM, Tree and KNN; compare on test accuracy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650000"/>
            <a:ext cx="10500000" cy="40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1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SpaceX REST API: </a:t>
            </a:r>
            <a:r>
              <a:rPr lang="en-US" sz="2100">
                <a:solidFill>
                  <a:schemeClr val="accent3">
                    <a:lumMod val="25000"/>
                  </a:schemeClr>
                </a:solidFill>
                <a:latin typeface="Abadi"/>
              </a:rPr>
              <a:t>launch, rocket, payload, launchpad and core details returned as JSON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1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Web scraping: </a:t>
            </a:r>
            <a:r>
              <a:rPr lang="en-US" sz="2100">
                <a:solidFill>
                  <a:schemeClr val="accent3">
                    <a:lumMod val="25000"/>
                  </a:schemeClr>
                </a:solidFill>
                <a:latin typeface="Abadi"/>
              </a:rPr>
              <a:t>Falcon 9 launch table from Wikipedia parsed with BeautifulSoup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100">
                <a:solidFill>
                  <a:schemeClr val="accent3">
                    <a:lumMod val="25000"/>
                  </a:schemeClr>
                </a:solidFill>
                <a:latin typeface="Abadi"/>
              </a:rPr>
              <a:t>Both sources were normalised into Pandas DataFrames and exported to CSV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100">
                <a:solidFill>
                  <a:schemeClr val="accent3">
                    <a:lumMod val="25000"/>
                  </a:schemeClr>
                </a:solidFill>
                <a:latin typeface="Abadi"/>
              </a:rPr>
              <a:t>Key fields: flight number, date, booster version, payload mass, orbit, launch site, landing outcome, block, reused count, serial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750000"/>
            <a:ext cx="4900000" cy="430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GET past launches from api.spacexdata.com/v4/launches/past and normalise the JSON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Resolve ID columns with follow-up calls: rocket, payloads, launchpad, cores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Keep single-core, single-payload Falcon 9 launches; apply the date cut-off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300" b="1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GitHub: </a:t>
            </a:r>
            <a:r>
              <a:rPr lang="en-US" sz="1300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https://github.com/Bunny7700/SpaceX-Falcon9-Landing-Prediction-Capstone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0000" y="1850000"/>
            <a:ext cx="5100000" cy="56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Request past launches (REST API)</a:t>
            </a:r>
          </a:p>
        </p:txBody>
      </p:sp>
      <p:sp>
        <p:nvSpPr>
          <p:cNvPr id="8" name="Down Arrow 7"/>
          <p:cNvSpPr/>
          <p:nvPr/>
        </p:nvSpPr>
        <p:spPr>
          <a:xfrm>
            <a:off x="8540000" y="2435000"/>
            <a:ext cx="220000" cy="210000"/>
          </a:xfrm>
          <a:prstGeom prst="downArrow">
            <a:avLst/>
          </a:prstGeom>
          <a:solidFill>
            <a:srgbClr val="1C7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00000" y="2670000"/>
            <a:ext cx="5100000" cy="56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Normalise JSON to DataFrame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540000" y="3255000"/>
            <a:ext cx="220000" cy="210000"/>
          </a:xfrm>
          <a:prstGeom prst="downArrow">
            <a:avLst/>
          </a:prstGeom>
          <a:solidFill>
            <a:srgbClr val="1C7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00000" y="3490000"/>
            <a:ext cx="5100000" cy="56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Resolve rocket, payload, launchpad, core IDs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540000" y="4075000"/>
            <a:ext cx="220000" cy="210000"/>
          </a:xfrm>
          <a:prstGeom prst="downArrow">
            <a:avLst/>
          </a:prstGeom>
          <a:solidFill>
            <a:srgbClr val="1C7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00000" y="4310000"/>
            <a:ext cx="5100000" cy="56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Filter Falcon 9, clean columns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540000" y="4895000"/>
            <a:ext cx="220000" cy="210000"/>
          </a:xfrm>
          <a:prstGeom prst="downArrow">
            <a:avLst/>
          </a:prstGeom>
          <a:solidFill>
            <a:srgbClr val="1C7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00000" y="5130000"/>
            <a:ext cx="5100000" cy="56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Export CSV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1" y="1750000"/>
            <a:ext cx="4800000" cy="430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Request the Wikipedia "List of Falcon 9 and Falcon Heavy launches" page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Parse the HTML with BeautifulSoup and locate the launch tables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Extract headers and cells into a dictionary and build a DataFrame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300" b="1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GitHub: </a:t>
            </a:r>
            <a:r>
              <a:rPr lang="en-US" sz="1300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https://github.com/Bunny7700/SpaceX-Falcon9-Landing-Prediction-Capstone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00000" y="1850000"/>
            <a:ext cx="5100000" cy="56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HTTP GET Wikipedia page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540000" y="2435000"/>
            <a:ext cx="220000" cy="210000"/>
          </a:xfrm>
          <a:prstGeom prst="downArrow">
            <a:avLst/>
          </a:prstGeom>
          <a:solidFill>
            <a:srgbClr val="1C7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00000" y="2670000"/>
            <a:ext cx="5100000" cy="56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Parse HTML (BeautifulSoup)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540000" y="3255000"/>
            <a:ext cx="220000" cy="210000"/>
          </a:xfrm>
          <a:prstGeom prst="downArrow">
            <a:avLst/>
          </a:prstGeom>
          <a:solidFill>
            <a:srgbClr val="1C7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00000" y="3490000"/>
            <a:ext cx="5100000" cy="56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Locate launch tables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540000" y="4075000"/>
            <a:ext cx="220000" cy="210000"/>
          </a:xfrm>
          <a:prstGeom prst="downArrow">
            <a:avLst/>
          </a:prstGeom>
          <a:solidFill>
            <a:srgbClr val="1C7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00000" y="4310000"/>
            <a:ext cx="5100000" cy="56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Extract headers and cell values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540000" y="4895000"/>
            <a:ext cx="220000" cy="210000"/>
          </a:xfrm>
          <a:prstGeom prst="downArrow">
            <a:avLst/>
          </a:prstGeom>
          <a:solidFill>
            <a:srgbClr val="1C7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00000" y="5130000"/>
            <a:ext cx="5100000" cy="56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DataFrame and CSV</a:t>
            </a: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650000"/>
            <a:ext cx="10300000" cy="43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Counted launches per site and per orbit, and the number of each landing outcome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Grouped outcomes: bad (False Ocean, False RTLS, False ASDS, None ASDS, None None) vs. good landings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Created Class: 1 = first stage landed, 0 = did not land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Filled missing PayloadMass with the mean; LandingPad is null when no pad was used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Result: dataset_part_2.csv (about 90 launches)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500" b="1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GitHub: </a:t>
            </a:r>
            <a:r>
              <a:rPr lang="en-US" sz="1500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https://github.com/Bunny7700/SpaceX-Falcon9-Landing-Prediction-Capstone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650000"/>
            <a:ext cx="10300000" cy="430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Scatter plots (catplot): </a:t>
            </a: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Flight Number and Payload vs. Launch Site and Orbit, coloured by Class - shows how experience and load affect landing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Bar chart: </a:t>
            </a: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success rate per orbit - shows which orbits are hardest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Line chart: </a:t>
            </a: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yearly success rate - shows the learning trend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Feature engineering: </a:t>
            </a: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12 features; one-hot encoding of Orbit, LaunchSite, LandingPad, Serial; cast to float64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500" b="1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GitHub: </a:t>
            </a:r>
            <a:r>
              <a:rPr lang="en-US" sz="1500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https://github.com/Bunny7700/SpaceX-Falcon9-Landing-Prediction-Capstone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650000"/>
            <a:ext cx="10300000" cy="430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Loaded Spacex.csv into a SQLite table (SPACEXTBL) and queried it with %sql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Used DISTINCT, LIKE, SUM, AVG, MIN, MAX, GROUP BY, ORDER BY, BETWEEN and sub-queries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Ten questions: launch sites, NASA payload, F9 v1.1 average, first ground landing, drone-ship boosters, mission outcomes, maximum payload, 2015 failures, outcome ranking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500" b="1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GitHub: </a:t>
            </a:r>
            <a:r>
              <a:rPr lang="en-US" sz="1500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https://github.com/Bunny7700/SpaceX-Falcon9-Landing-Prediction-Capstone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650000"/>
            <a:ext cx="10300000" cy="43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Circles and labels mark each launch site on a world map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Marker clusters coloured green (success) and red (failure) show every launch record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Distance lines (PolyLine + MousePosition) measure the gap from a site to the nearest coastline, railway, highway and city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Why: to see where sites sit geographically and how close they are to logistics and to populated areas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500" b="1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GitHub: </a:t>
            </a:r>
            <a:r>
              <a:rPr lang="en-US" sz="1500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https://github.com/Bunny7700/SpaceX-Falcon9-Landing-Prediction-Capstone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650000"/>
            <a:ext cx="10300000" cy="430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Drop-down selects a launch site (or All Sites) and drives a success pie chart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Range slider selects payload mass and drives a payload vs. outcome scatter plot coloured by booster version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Callbacks link the controls to the charts so the analysis updates instantly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Why: lets a viewer explore success by site and payload without editing code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500" b="1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GitHub: </a:t>
            </a:r>
            <a:r>
              <a:rPr lang="en-US" sz="1500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https://github.com/Bunny7700/SpaceX-Falcon9-Landing-Prediction-Capstone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650000"/>
            <a:ext cx="6000000" cy="43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800">
                <a:solidFill>
                  <a:schemeClr val="accent3">
                    <a:lumMod val="25000"/>
                  </a:schemeClr>
                </a:solidFill>
                <a:latin typeface="Abadi"/>
              </a:rPr>
              <a:t>Y = Class as a NumPy array; X standardised with StandardScaler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800">
                <a:solidFill>
                  <a:schemeClr val="accent3">
                    <a:lumMod val="25000"/>
                  </a:schemeClr>
                </a:solidFill>
                <a:latin typeface="Abadi"/>
              </a:rPr>
              <a:t>80/20 train/test split (random_state=2): 72 training and 18 test records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800">
                <a:solidFill>
                  <a:schemeClr val="accent3">
                    <a:lumMod val="25000"/>
                  </a:schemeClr>
                </a:solidFill>
                <a:latin typeface="Abadi"/>
              </a:rPr>
              <a:t>GridSearchCV (cv=10) tuned Logistic Regression, SVM, Decision Tree and KNN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800">
                <a:solidFill>
                  <a:schemeClr val="accent3">
                    <a:lumMod val="25000"/>
                  </a:schemeClr>
                </a:solidFill>
                <a:latin typeface="Abadi"/>
              </a:rPr>
              <a:t>Evaluated with test accuracy and confusion matrix; best model chosen on test accuracy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300" b="1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GitHub: </a:t>
            </a:r>
            <a:r>
              <a:rPr lang="en-US" sz="1300" u="sng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https://github.com/Bunny7700/SpaceX-Falcon9-Landing-Prediction-Capstone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0" y="1750000"/>
            <a:ext cx="4000000" cy="52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Standardise features</a:t>
            </a:r>
          </a:p>
        </p:txBody>
      </p:sp>
      <p:sp>
        <p:nvSpPr>
          <p:cNvPr id="7" name="Down Arrow 6"/>
          <p:cNvSpPr/>
          <p:nvPr/>
        </p:nvSpPr>
        <p:spPr>
          <a:xfrm>
            <a:off x="9090000" y="2295000"/>
            <a:ext cx="220000" cy="200000"/>
          </a:xfrm>
          <a:prstGeom prst="downArrow">
            <a:avLst/>
          </a:prstGeom>
          <a:solidFill>
            <a:srgbClr val="1C7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00000" y="2520000"/>
            <a:ext cx="4000000" cy="52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Train / test split 80/20</a:t>
            </a:r>
          </a:p>
        </p:txBody>
      </p:sp>
      <p:sp>
        <p:nvSpPr>
          <p:cNvPr id="9" name="Down Arrow 8"/>
          <p:cNvSpPr/>
          <p:nvPr/>
        </p:nvSpPr>
        <p:spPr>
          <a:xfrm>
            <a:off x="9090000" y="3065000"/>
            <a:ext cx="220000" cy="200000"/>
          </a:xfrm>
          <a:prstGeom prst="downArrow">
            <a:avLst/>
          </a:prstGeom>
          <a:solidFill>
            <a:srgbClr val="1C7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00000" y="3290000"/>
            <a:ext cx="4000000" cy="52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GridSearchCV cv=10 (4 models)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090000" y="3835000"/>
            <a:ext cx="220000" cy="200000"/>
          </a:xfrm>
          <a:prstGeom prst="downArrow">
            <a:avLst/>
          </a:prstGeom>
          <a:solidFill>
            <a:srgbClr val="1C7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00000" y="4060000"/>
            <a:ext cx="4000000" cy="52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Score on test set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090000" y="4605000"/>
            <a:ext cx="220000" cy="200000"/>
          </a:xfrm>
          <a:prstGeom prst="downArrow">
            <a:avLst/>
          </a:prstGeom>
          <a:solidFill>
            <a:srgbClr val="1C7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200000" y="4830000"/>
            <a:ext cx="4000000" cy="520000"/>
          </a:xfrm>
          <a:prstGeom prst="roundRect">
            <a:avLst/>
          </a:prstGeom>
          <a:solidFill>
            <a:srgbClr val="1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badi"/>
              </a:rPr>
              <a:t>Confusion matrix and best model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770011" y="1650000"/>
            <a:ext cx="10400000" cy="43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EDA results: </a:t>
            </a: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success 0% (2010-13) to ~90% (2019); GTO hardest at ~52%; VLEO, LEO, SSO most reliable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Interactive analytics: </a:t>
            </a: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Folium map and Plotly Dash dashboard screenshots (slides 35-41)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Predictive analysis: </a:t>
            </a: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four tuned classifiers, 83.33% test accuracy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 b="1">
                <a:solidFill>
                  <a:schemeClr val="accent3">
                    <a:lumMod val="25000"/>
                  </a:schemeClr>
                </a:solidFill>
                <a:latin typeface="Abadi"/>
              </a:rPr>
              <a:t>Innovative insight: </a:t>
            </a: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an expected-cost model, cost = $62M x P(landing) + replacement cost x (1 - P(landing)), lets a bidder turn the classifier probability into a price estimate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3750000"/>
            <a:ext cx="10500000" cy="22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Failures (blue) cluster in the early flights at CCAFS SLC 40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As flight number grows, all sites show mostly successful (orange) landings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KSC LC 39A appears around flight 27 and is largely successful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c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11" y="1500000"/>
            <a:ext cx="10500000" cy="205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3750000"/>
            <a:ext cx="10500000" cy="22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VAFB SLC 4E has no launches above ~10,000 kg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Payloads above 15,000 kg fly from CCAFS SLC 40 and KSC LC 39A and mostly land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Mid-range payloads (2,000-7,000 kg) show the most failures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  <p:pic>
        <p:nvPicPr>
          <p:cNvPr id="6" name="Picture 5" descr="c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11" y="1500000"/>
            <a:ext cx="10500000" cy="205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1700000"/>
            <a:ext cx="4300000" cy="43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Orbits with 100% success: ES-L1, GEO, HEO, SSO (small samples)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VLEO ~86%, LEO ~72%, MEO and PO ~67%, ISS ~62%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GTO ~52% is the hardest orbit; SO is 0% (one flight)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c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000" y="1550000"/>
            <a:ext cx="6316552" cy="4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1700000"/>
            <a:ext cx="4300000" cy="43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In LEO, success grows with flight number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In GTO there is no clear relationship between flight number and outcome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The newest flights (65+) are mostly VLEO and succeed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c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000" y="1800000"/>
            <a:ext cx="6200000" cy="290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1700000"/>
            <a:ext cx="4300000" cy="43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Heavy payloads land well for Polar, LEO and ISS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GTO shows both outcomes at similar payloads, so payload alone cannot separate them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VLEO carries the heaviest payloads (~15,000 kg)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c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000" y="1800000"/>
            <a:ext cx="6200000" cy="290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1700000"/>
            <a:ext cx="4800000" cy="43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2010-2013: 0%; 2014-2015: ~33%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2016-2017: rises to ~83%; 2018 dips to ~61%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2019 peaks at ~90%; 2020 is ~84%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Success climbed steadily 2013-2017 and stayed high: a clear learning curve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  <p:pic>
        <p:nvPicPr>
          <p:cNvPr id="6" name="Picture 5" descr="c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000" y="1550000"/>
            <a:ext cx="5321598" cy="4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450000"/>
            <a:ext cx="10500000" cy="6500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Four unique launch sites; CCAFS LC-40 and CCAFS SLC-40 are the same Cape Canaveral pad written two ways.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0011" y="2150000"/>
            <a:ext cx="10500000" cy="800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l"/>
            <a:r>
              <a:rPr sz="1400" b="0">
                <a:solidFill>
                  <a:srgbClr val="1F2A3C"/>
                </a:solidFill>
                <a:latin typeface="Courier New"/>
              </a:rPr>
              <a:t>SELECT DISTINCT Launch_Site FROM SPACEXTBL;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0011" y="3130000"/>
          <a:ext cx="10500000" cy="18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Launch_Site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VAFB SLC-4E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KSC LC-39A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CCAFS SLC-40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450000"/>
            <a:ext cx="10500000" cy="65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The first five launches were all from Cape Canaveral with light payloads to LEO / ISS.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  <p:sp>
        <p:nvSpPr>
          <p:cNvPr id="6" name="Rectangle 5"/>
          <p:cNvSpPr/>
          <p:nvPr/>
        </p:nvSpPr>
        <p:spPr>
          <a:xfrm>
            <a:off x="770011" y="2150000"/>
            <a:ext cx="10500000" cy="800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l"/>
            <a:r>
              <a:rPr sz="1400" b="0">
                <a:solidFill>
                  <a:srgbClr val="1F2A3C"/>
                </a:solidFill>
                <a:latin typeface="Courier New"/>
              </a:rPr>
              <a:t>SELECT * FROM SPACEXTBL WHERE Launch_Site LIKE 'CCA%' LIMIT 5;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0011" y="3130000"/>
          <a:ext cx="10500000" cy="20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badi"/>
                        </a:rPr>
                        <a:t>Date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badi"/>
                        </a:rPr>
                        <a:t>Booster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badi"/>
                        </a:rPr>
                        <a:t>Site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badi"/>
                        </a:rPr>
                        <a:t>Payload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badi"/>
                        </a:rPr>
                        <a:t>Mass (kg)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badi"/>
                        </a:rPr>
                        <a:t>Orbit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2010-06-04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F9 v1.0 B0003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Dragon Qualification Unit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LEO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2010-12-08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F9 v1.0 B0004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Dragon demo flight C1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0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LEO (ISS)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2012-05-22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F9 v1.0 B0005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Dragon demo flight C2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525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LEO (ISS)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2012-10-08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F9 v1.0 B0006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SpaceX CRS-1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500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LEO (ISS)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2013-03-01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F9 v1.0 B0007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SpaceX CRS-2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677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LEO (ISS)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450000"/>
            <a:ext cx="10500000" cy="65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Boosters launched for NASA (CRS) carried 48,213 kg in total.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0011" y="2150000"/>
            <a:ext cx="10500000" cy="800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l"/>
            <a:r>
              <a:rPr sz="1400" b="0">
                <a:solidFill>
                  <a:srgbClr val="1F2A3C"/>
                </a:solidFill>
                <a:latin typeface="Courier New"/>
              </a:rPr>
              <a:t>SELECT SUM(PAYLOAD_MASS__KG_) AS Total_Payload_Mass FROM SPACEXTBL WHERE Customer LIKE 'NASA (CRS)%';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0011" y="3130000"/>
          <a:ext cx="10500000" cy="7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Total_Payload_Mass (kg)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48,213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450000"/>
            <a:ext cx="10500000" cy="65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Booster version F9 v1.1 carried about 2,535 kg on average.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0011" y="2150000"/>
            <a:ext cx="10500000" cy="800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l"/>
            <a:r>
              <a:rPr sz="1400" b="0">
                <a:solidFill>
                  <a:srgbClr val="1F2A3C"/>
                </a:solidFill>
                <a:latin typeface="Courier New"/>
              </a:rPr>
              <a:t>SELECT AVG(PAYLOAD_MASS__KG_) AS Average_Payload_Mass FROM SPACEXTBL WHERE Booster_Version LIKE 'F9 v1.1%';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0011" y="3130000"/>
          <a:ext cx="10500000" cy="7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Average_Payload_Mass (kg)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2,534.67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450000"/>
            <a:ext cx="10500000" cy="65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The first successful ground-pad landing took place on 22 December 2015.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0011" y="2150000"/>
            <a:ext cx="10500000" cy="800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l"/>
            <a:r>
              <a:rPr sz="1400" b="0">
                <a:solidFill>
                  <a:srgbClr val="1F2A3C"/>
                </a:solidFill>
                <a:latin typeface="Courier New"/>
              </a:rPr>
              <a:t>SELECT MIN(Date) AS First_Successful_Ground_Landing FROM SPACEXTBL WHERE Landing_Outcome LIKE '%Success%ground%';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0011" y="3130000"/>
          <a:ext cx="10500000" cy="7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First_Successful_Ground_Landing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2015-12-22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450000"/>
            <a:ext cx="10500000" cy="65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Four Full Thrust boosters landed on a drone ship with mid-weight payloads.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Landing, Payload 4000-6000 kg</a:t>
            </a:r>
          </a:p>
        </p:txBody>
      </p:sp>
      <p:sp>
        <p:nvSpPr>
          <p:cNvPr id="9" name="Rectangle 8"/>
          <p:cNvSpPr/>
          <p:nvPr/>
        </p:nvSpPr>
        <p:spPr>
          <a:xfrm>
            <a:off x="770011" y="2150000"/>
            <a:ext cx="10500000" cy="800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l"/>
            <a:r>
              <a:rPr sz="1400" b="0">
                <a:solidFill>
                  <a:srgbClr val="1F2A3C"/>
                </a:solidFill>
                <a:latin typeface="Courier New"/>
              </a:rPr>
              <a:t>SELECT Booster_Version FROM SPACEXTBL WHERE Landing_Outcome = 'Success (drone ship)' AND PAYLOAD_MASS__KG_ BETWEEN 4000 AND 6000;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0011" y="3130000"/>
          <a:ext cx="10500000" cy="18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Booster_Version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FT B1022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FT B1026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FT B1021.2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FT B1031.2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450000"/>
            <a:ext cx="10500000" cy="6500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100 of 101 missions succeeded (98 + 1 with a trailing space + 1 payload status unclear); one failed in flight.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0011" y="2150000"/>
            <a:ext cx="10500000" cy="800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l"/>
            <a:r>
              <a:rPr sz="1400" b="0">
                <a:solidFill>
                  <a:srgbClr val="1F2A3C"/>
                </a:solidFill>
                <a:latin typeface="Courier New"/>
              </a:rPr>
              <a:t>SELECT Mission_Outcome, COUNT(*) AS Count FROM SPACEXTBL GROUP BY Mission_Outcome;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0011" y="3130000"/>
          <a:ext cx="10500000" cy="18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Mission_Outcome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Count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Success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98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Success (trailing space in data)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Success (payload status unclear)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Failure (in flight)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450000"/>
            <a:ext cx="10500000" cy="65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All 12 boosters that carried the maximum payload are Block 5 (F9 B5).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0011" y="2150000"/>
            <a:ext cx="10500000" cy="800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l"/>
            <a:r>
              <a:rPr sz="1400" b="0">
                <a:solidFill>
                  <a:srgbClr val="1F2A3C"/>
                </a:solidFill>
                <a:latin typeface="Courier New"/>
              </a:rPr>
              <a:t>SELECT Booster_Version FROM SPACEXTBL WHERE PAYLOAD_MASS__KG_ = (SELECT MAX(PAYLOAD_MASS__KG_) FROM SPACEXTBL);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0011" y="3130000"/>
          <a:ext cx="10500000" cy="18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Booster_Version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Booster_Version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Booster_Version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B5 B1048.4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B5 B1049.4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B5 B1051.3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B5 B1056.4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B5 B1048.5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B5 B1051.4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B5 B1049.5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B5 B1060.2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B5 B1058.3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B5 B1051.6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B5 B1060.3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B5 B1049.7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450000"/>
            <a:ext cx="10500000" cy="65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Both 2015 drone-ship landing failures (January and April) were launched from Cape Canaveral.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0011" y="2150000"/>
            <a:ext cx="10500000" cy="1000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l"/>
            <a:r>
              <a:rPr sz="1400" b="0">
                <a:solidFill>
                  <a:srgbClr val="1F2A3C"/>
                </a:solidFill>
                <a:latin typeface="Courier New"/>
              </a:rPr>
              <a:t>SELECT substr(Date,6,2) AS Month, Landing_Outcome, Booster_Version, Launch_Site FROM SPACEXTBL WHERE Landing_Outcome='Failure (drone ship)' AND substr(Date,0,5)='2015';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0011" y="3330000"/>
          <a:ext cx="10500000" cy="10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Month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Landing_Outcome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Booster_Version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Launch_Site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01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Failure (drone ship)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v1.1 B1012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04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Failure (drone ship)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F9 v1.1 B1015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450000"/>
            <a:ext cx="10500000" cy="650000"/>
          </a:xfrm>
          <a:prstGeom prst="rect">
            <a:avLst/>
          </a:prstGeom>
        </p:spPr>
        <p:txBody>
          <a:bodyPr lIns="91440" tIns="45720" rIns="91440" bIns="45720" anchor="t"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Most early flights made no landing attempt; drone-ship successes and failures were tied at five each.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70011" y="2150000"/>
            <a:ext cx="10500000" cy="720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l"/>
            <a:r>
              <a:rPr sz="1400" b="0">
                <a:solidFill>
                  <a:srgbClr val="1F2A3C"/>
                </a:solidFill>
                <a:latin typeface="Courier New"/>
              </a:rPr>
              <a:t>SELECT Landing_Outcome, COUNT(*) AS Outcome_Count FROM SPACEXTBL WHERE Date BETWEEN '2010-06-04' AND '2017-03-20' GROUP BY Landing_Outcome ORDER BY Outcome_Count DESC;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0011" y="3050000"/>
          <a:ext cx="10500000" cy="279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badi"/>
                        </a:rPr>
                        <a:t>Landing_Outcome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badi"/>
                        </a:rPr>
                        <a:t>Count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No attempt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10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Success (drone ship)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5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Failure (drone ship)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Success (ground pad)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Controlled (ocean)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Uncontrolled (ocean)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2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Failure (parachute)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2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Precluded (drone ship)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C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650000"/>
            <a:ext cx="4100000" cy="430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All launch sites are marked with a circle and label on a world map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Sites sit on the US coasts (Florida and California) at low latitude, close to the equator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Being near the equator adds Earth's rotational speed at launch; coastal sites let failed stages fall over the ocean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Folium Map: All Launch Sites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0000" y="1650000"/>
            <a:ext cx="6200000" cy="4200000"/>
          </a:xfrm>
          <a:prstGeom prst="rect">
            <a:avLst/>
          </a:prstGeom>
          <a:solidFill>
            <a:srgbClr val="FFF4D6"/>
          </a:solidFill>
          <a:ln w="15875">
            <a:solidFill>
              <a:srgbClr val="E0A8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400" b="0" dirty="0">
                <a:solidFill>
                  <a:srgbClr val="7A5A00"/>
                </a:solidFill>
                <a:latin typeface="Abadi"/>
              </a:rPr>
              <a:t>Paste Folium screenshot 1 here:</a:t>
            </a:r>
          </a:p>
          <a:p>
            <a:pPr algn="ctr"/>
            <a:r>
              <a:rPr sz="1400" b="0" dirty="0">
                <a:solidFill>
                  <a:srgbClr val="7A5A00"/>
                </a:solidFill>
                <a:latin typeface="Abadi"/>
              </a:rPr>
              <a:t>world map with all launch site markers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F59AB1-F46A-8380-4AB3-09C6C3969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000" y="1844835"/>
            <a:ext cx="6439458" cy="381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650000"/>
            <a:ext cx="4100000" cy="430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Marker clusters colour each launch record: green = success, red = failure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Compare the green / red mix per site to see which site has the best record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State which site has the most green markers (from your map)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Folium Map: Launch Outcomes by Site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00000" y="1650000"/>
            <a:ext cx="6200000" cy="4200000"/>
          </a:xfrm>
          <a:prstGeom prst="rect">
            <a:avLst/>
          </a:prstGeom>
          <a:solidFill>
            <a:srgbClr val="FFF4D6"/>
          </a:solidFill>
          <a:ln w="15875">
            <a:solidFill>
              <a:srgbClr val="E0A8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400" b="0">
                <a:solidFill>
                  <a:srgbClr val="7A5A00"/>
                </a:solidFill>
                <a:latin typeface="Abadi"/>
              </a:rPr>
              <a:t>Paste Folium screenshot 2 here:</a:t>
            </a:r>
          </a:p>
          <a:p>
            <a:pPr algn="ctr"/>
            <a:r>
              <a:rPr sz="1400" b="0">
                <a:solidFill>
                  <a:srgbClr val="7A5A00"/>
                </a:solidFill>
                <a:latin typeface="Abadi"/>
              </a:rPr>
              <a:t>colour-coded launch outcomes for each site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9A9CEA-1BD6-C9D4-C645-CC07A1277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393" y="1761007"/>
            <a:ext cx="7087214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650000"/>
            <a:ext cx="4100000" cy="430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Lines from a launch site to the nearest coastline, railway, highway and city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Fill in the measured distances (km) from your notebook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State whether sites are close to coast, railway and highway and far from cities (from your map)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Folium Map: Distance to Proximities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00000" y="1650000"/>
            <a:ext cx="6200000" cy="4200000"/>
          </a:xfrm>
          <a:prstGeom prst="rect">
            <a:avLst/>
          </a:prstGeom>
          <a:solidFill>
            <a:srgbClr val="FFF4D6"/>
          </a:solidFill>
          <a:ln w="15875">
            <a:solidFill>
              <a:srgbClr val="E0A8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400" b="0">
                <a:solidFill>
                  <a:srgbClr val="7A5A00"/>
                </a:solidFill>
                <a:latin typeface="Abadi"/>
              </a:rPr>
              <a:t>Paste Folium screenshot 3 here:</a:t>
            </a:r>
          </a:p>
          <a:p>
            <a:pPr algn="ctr"/>
            <a:r>
              <a:rPr sz="1400" b="0">
                <a:solidFill>
                  <a:srgbClr val="7A5A00"/>
                </a:solidFill>
                <a:latin typeface="Abadi"/>
              </a:rPr>
              <a:t>distance lines to coast, railway, highway and city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ABBA66-F53A-9067-EEA5-1788AF65F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797" y="1835297"/>
            <a:ext cx="7025150" cy="4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650000"/>
            <a:ext cx="4100000" cy="430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Pie chart shows each site's share of all successful landings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Name the site with the largest share of successes : KSC LC = A39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Dash: Launch Success Count by Site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C3480D-B943-D3B7-5DB0-E7FE1343EF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66" t="25465" r="4667" b="21745"/>
          <a:stretch>
            <a:fillRect/>
          </a:stretch>
        </p:blipFill>
        <p:spPr>
          <a:xfrm>
            <a:off x="4716027" y="1503680"/>
            <a:ext cx="6741945" cy="323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650000"/>
            <a:ext cx="4100000" cy="430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Select the site with the highest success ratio to show its success / failure split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Report its success percentage (from your dashboard)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Dash: Site with Highest Success Ratio</a:t>
            </a:r>
          </a:p>
        </p:txBody>
      </p:sp>
      <p:sp>
        <p:nvSpPr>
          <p:cNvPr id="9" name="Rectangle 8"/>
          <p:cNvSpPr/>
          <p:nvPr/>
        </p:nvSpPr>
        <p:spPr>
          <a:xfrm>
            <a:off x="5100000" y="1650000"/>
            <a:ext cx="6200000" cy="4200000"/>
          </a:xfrm>
          <a:prstGeom prst="rect">
            <a:avLst/>
          </a:prstGeom>
          <a:solidFill>
            <a:srgbClr val="FFF4D6"/>
          </a:solidFill>
          <a:ln w="15875">
            <a:solidFill>
              <a:srgbClr val="E0A8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400" b="0">
                <a:solidFill>
                  <a:srgbClr val="7A5A00"/>
                </a:solidFill>
                <a:latin typeface="Abadi"/>
              </a:rPr>
              <a:t>Paste Dashboard screenshot 2 here:</a:t>
            </a:r>
          </a:p>
          <a:p>
            <a:pPr algn="ctr"/>
            <a:r>
              <a:rPr sz="1400" b="0">
                <a:solidFill>
                  <a:srgbClr val="7A5A00"/>
                </a:solidFill>
                <a:latin typeface="Abadi"/>
              </a:rPr>
              <a:t>pie chart for the best-performing site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2340C-C775-AB71-9830-0DAB41D30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131" y="1554905"/>
            <a:ext cx="7047669" cy="429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650000"/>
            <a:ext cx="4100000" cy="430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Scatter of payload against Class for all sites, coloured by booster version, filtered by the payload slider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chemeClr val="accent3">
                    <a:lumMod val="25000"/>
                  </a:schemeClr>
                </a:solidFill>
                <a:latin typeface="Abadi"/>
              </a:rPr>
              <a:t>Report the payload range and booster version with the highest success rate (from your dashboard)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Dash: Payload vs. Launch Outcome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0000" y="1650000"/>
            <a:ext cx="6200000" cy="4200000"/>
          </a:xfrm>
          <a:prstGeom prst="rect">
            <a:avLst/>
          </a:prstGeom>
          <a:solidFill>
            <a:srgbClr val="FFF4D6"/>
          </a:solidFill>
          <a:ln w="15875">
            <a:solidFill>
              <a:srgbClr val="E0A8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/>
            <a:r>
              <a:rPr sz="1400" b="0">
                <a:solidFill>
                  <a:srgbClr val="7A5A00"/>
                </a:solidFill>
                <a:latin typeface="Abadi"/>
              </a:rPr>
              <a:t>Paste Dashboard screenshot 3 here:</a:t>
            </a:r>
          </a:p>
          <a:p>
            <a:pPr algn="ctr"/>
            <a:r>
              <a:rPr sz="1400" b="0">
                <a:solidFill>
                  <a:srgbClr val="7A5A00"/>
                </a:solidFill>
                <a:latin typeface="Abadi"/>
              </a:rPr>
              <a:t>payload vs. outcome scatter (two slider ranges)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4AFFBD-3D90-CA1B-6837-50D4BE96A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611" y="1650000"/>
            <a:ext cx="7301669" cy="444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1700000"/>
            <a:ext cx="4800000" cy="420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All four tuned models score 83.33% on the 18-record test set (15 correct)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No model is clearly best; one prediction changes accuracy by 5.6 points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Logistic Regression is a reasonable pick: simplest and least prone to overfitting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800000" y="1600000"/>
          <a:ext cx="5500000" cy="43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1700000"/>
            <a:ext cx="5000000" cy="42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Best model shown: all four models give the same result on the test set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True positives 12, true negatives 3, false positives 3, false negatives 0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700">
                <a:solidFill>
                  <a:schemeClr val="accent3">
                    <a:lumMod val="25000"/>
                  </a:schemeClr>
                </a:solidFill>
                <a:latin typeface="Abadi"/>
              </a:rPr>
              <a:t>Every successful landing is found; the main error is false positives (a failed landing predicted as landed)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00000" y="2100000"/>
          <a:ext cx="5300000" cy="24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000">
                <a:tc>
                  <a:txBody>
                    <a:bodyPr/>
                    <a:lstStyle/>
                    <a:p>
                      <a:endParaRPr/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Predicted: did not land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Predicted: landed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True: did not land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3C"/>
                          </a:solidFill>
                          <a:latin typeface="Abadi"/>
                        </a:rPr>
                        <a:t>TN = 3</a:t>
                      </a:r>
                    </a:p>
                  </a:txBody>
                  <a:tcPr marT="20000" marB="20000" anchor="ctr">
                    <a:solidFill>
                      <a:srgbClr val="8FB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3C"/>
                          </a:solidFill>
                          <a:latin typeface="Abadi"/>
                        </a:rPr>
                        <a:t>FP = 3</a:t>
                      </a:r>
                    </a:p>
                  </a:txBody>
                  <a:tcPr marT="20000" marB="20000" anchor="ctr"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A3C"/>
                          </a:solidFill>
                          <a:latin typeface="Abadi"/>
                        </a:rPr>
                        <a:t>True: landed</a:t>
                      </a:r>
                    </a:p>
                  </a:txBody>
                  <a:tcPr marT="20000" marB="20000" anchor="ctr"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3C"/>
                          </a:solidFill>
                          <a:latin typeface="Abadi"/>
                        </a:rPr>
                        <a:t>FN = 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badi"/>
                        </a:rPr>
                        <a:t>TP = 12</a:t>
                      </a:r>
                    </a:p>
                  </a:txBody>
                  <a:tcPr marT="20000" marB="20000" anchor="ctr">
                    <a:solidFill>
                      <a:srgbClr val="1B4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550000"/>
            <a:ext cx="10400000" cy="45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Landing success rose from 0% (2010-2013) to about 90% (2019) as SpaceX gained experience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GTO is the hardest orbit (~52%); VLEO, LEO and SSO are the most reliable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Heavy payloads launched from CCAFS SLC 40 and KSC LC 39A mostly land; VAFB SLC 4E flies no payload above ~10,000 kg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All launch sites are close to the coast, so failed stages fall over water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Classifiers predict a landing with about 83% accuracy, enough to support launch-cost estimates for a bidder</a:t>
            </a:r>
          </a:p>
          <a:p>
            <a:pPr marL="285750" indent="-28575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000">
                <a:solidFill>
                  <a:schemeClr val="accent3">
                    <a:lumMod val="25000"/>
                  </a:schemeClr>
                </a:solidFill>
                <a:latin typeface="Abadi"/>
              </a:rPr>
              <a:t>Next steps: more data, weather and reuse features, ensemble models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550000"/>
            <a:ext cx="10400000" cy="11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500" b="1" u="sng">
                <a:solidFill>
                  <a:schemeClr val="accent3">
                    <a:lumMod val="25000"/>
                  </a:schemeClr>
                </a:solidFill>
                <a:latin typeface="Abadi"/>
                <a:hlinkClick r:id="rId4"/>
              </a:rPr>
              <a:t>GitHub: </a:t>
            </a:r>
            <a:r>
              <a:rPr lang="en-US" sz="1500" u="sng">
                <a:solidFill>
                  <a:schemeClr val="accent3">
                    <a:lumMod val="25000"/>
                  </a:schemeClr>
                </a:solidFill>
                <a:latin typeface="Abadi"/>
                <a:hlinkClick r:id="rId4"/>
              </a:rPr>
              <a:t>https://github.com/Bunny7700/SpaceX-Falcon9-Landing-Prediction-Capstone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900">
                <a:solidFill>
                  <a:schemeClr val="accent3">
                    <a:lumMod val="25000"/>
                  </a:schemeClr>
                </a:solidFill>
                <a:latin typeface="Abadi"/>
              </a:rPr>
              <a:t>GridSearchCV used for all four classifiers (example: SVM):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0011" y="2750000"/>
            <a:ext cx="10400000" cy="2900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l"/>
            <a:r>
              <a:rPr sz="1300" b="0">
                <a:solidFill>
                  <a:srgbClr val="1F2A3C"/>
                </a:solidFill>
                <a:latin typeface="Courier New"/>
              </a:rPr>
              <a:t>parameters = {'kernel': ('linear','rbf','poly','sigmoid'),</a:t>
            </a:r>
          </a:p>
          <a:p>
            <a:pPr algn="l"/>
            <a:r>
              <a:rPr sz="1300" b="0">
                <a:solidFill>
                  <a:srgbClr val="1F2A3C"/>
                </a:solidFill>
                <a:latin typeface="Courier New"/>
              </a:rPr>
              <a:t>              'C': np.logspace(-3, 3, 5),</a:t>
            </a:r>
          </a:p>
          <a:p>
            <a:pPr algn="l"/>
            <a:r>
              <a:rPr sz="1300" b="0">
                <a:solidFill>
                  <a:srgbClr val="1F2A3C"/>
                </a:solidFill>
                <a:latin typeface="Courier New"/>
              </a:rPr>
              <a:t>              'gamma': np.logspace(-3, 3, 5)}</a:t>
            </a:r>
          </a:p>
          <a:p>
            <a:pPr algn="l"/>
            <a:r>
              <a:rPr sz="1300" b="0">
                <a:solidFill>
                  <a:srgbClr val="1F2A3C"/>
                </a:solidFill>
                <a:latin typeface="Courier New"/>
              </a:rPr>
              <a:t>svm_cv = GridSearchCV(SVC(), parameters, cv=10)</a:t>
            </a:r>
          </a:p>
          <a:p>
            <a:pPr algn="l"/>
            <a:r>
              <a:rPr sz="1300" b="0">
                <a:solidFill>
                  <a:srgbClr val="1F2A3C"/>
                </a:solidFill>
                <a:latin typeface="Courier New"/>
              </a:rPr>
              <a:t>svm_cv.fit(X_train, Y_train)</a:t>
            </a:r>
          </a:p>
          <a:p>
            <a:pPr algn="l"/>
            <a:r>
              <a:rPr sz="1300" b="0">
                <a:solidFill>
                  <a:srgbClr val="1F2A3C"/>
                </a:solidFill>
                <a:latin typeface="Courier New"/>
              </a:rPr>
              <a:t>print(svm_cv.best_params_, svm_cv.best_score_)</a:t>
            </a:r>
          </a:p>
          <a:p>
            <a:pPr algn="l"/>
            <a:r>
              <a:rPr sz="1300" b="0">
                <a:solidFill>
                  <a:srgbClr val="1F2A3C"/>
                </a:solidFill>
                <a:latin typeface="Courier New"/>
              </a:rPr>
              <a:t>print('test accuracy:', svm_cv.score(X_test, Y_test))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</TotalTime>
  <Words>2890</Words>
  <Application>Microsoft Office PowerPoint</Application>
  <PresentationFormat>Widescreen</PresentationFormat>
  <Paragraphs>381</Paragraphs>
  <Slides>46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Abadi</vt:lpstr>
      <vt:lpstr>Arial</vt:lpstr>
      <vt:lpstr>Calibri</vt:lpstr>
      <vt:lpstr>Courier New</vt:lpstr>
      <vt:lpstr>IBM Plex Mono SemiBold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Deepti Patra</cp:lastModifiedBy>
  <cp:revision>200</cp:revision>
  <dcterms:created xsi:type="dcterms:W3CDTF">2021-04-29T18:58:34Z</dcterms:created>
  <dcterms:modified xsi:type="dcterms:W3CDTF">2026-09-30T17:01:19Z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